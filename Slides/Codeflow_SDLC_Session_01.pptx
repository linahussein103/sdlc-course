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compare disciplines. In all of them, the engineer designs, evaluates tradeoffs, tests solutions, and maintains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 LOVELACE (1843): First published algorithm for a proposed computer
ALAN TURING (1936): Formal foundations of computation
THE ENIAC SIX (1940s): Pioneers of electronic computer programming
GRACE HOPPER (1950s): Compiler pioneer; shaped high-level languages
JOHN MCCARTHY (1956): Named AI; created Lisp
MARGARET HAMILTON (1960s): Championed software engineering; led Apollo software
Image references: Wikimedia Commons / NASA historical archives; visual initials are illustrations rather than photographs.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RITCHIE &amp; THOMPSON (1969+): UNIX; C programming language
EDGAR F. CODD (1970): Relational database model
BARBARA LISKOV (1970s+): Data abstraction and modular design
RADIA PERLMAN (1980s): Spanning Tree Protocol for networks
TIM BERNERS-LEE (1989): World Wide Web; HTML and HTTP
LINUS TORVALDS (1991 / 2005): Linux kernel; Git version control
Image references: Wikimedia Commons / NASA historical archives; visual initials are illustrations rather than photographs.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01 • FOUNDATIONS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32588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PRACTICES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THE SDLC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749808" y="3886200"/>
            <a:ext cx="9692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writing your first line of code to engineering real-world software.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68096" y="5074920"/>
            <a:ext cx="2423160" cy="365760"/>
          </a:xfrm>
          <a:prstGeom prst="roundRect">
            <a:avLst>
              <a:gd name="adj" fmla="val 32500"/>
            </a:avLst>
          </a:prstGeom>
          <a:solidFill>
            <a:srgbClr val="17233D"/>
          </a:solidFill>
          <a:ln w="10160">
            <a:solidFill>
              <a:srgbClr val="172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5148072"/>
            <a:ext cx="2240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5074920"/>
            <a:ext cx="2011680" cy="365760"/>
          </a:xfrm>
          <a:prstGeom prst="roundRect">
            <a:avLst>
              <a:gd name="adj" fmla="val 32500"/>
            </a:avLst>
          </a:prstGeom>
          <a:solidFill>
            <a:srgbClr val="17233D"/>
          </a:solidFill>
          <a:ln w="10160">
            <a:solidFill>
              <a:srgbClr val="172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514807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FOUNDATIONS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95544" y="5074920"/>
            <a:ext cx="1737360" cy="365760"/>
          </a:xfrm>
          <a:prstGeom prst="roundRect">
            <a:avLst>
              <a:gd name="adj" fmla="val 32500"/>
            </a:avLst>
          </a:prstGeom>
          <a:solidFill>
            <a:srgbClr val="17233D"/>
          </a:solidFill>
          <a:ln w="10160">
            <a:solidFill>
              <a:srgbClr val="172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6984" y="5148072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E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CODING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BIG QUESTION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 software engineer?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Someone who writes code? Builds websites? Fixes bugs?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engineer solves problems.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discipline remains the same—even when the field changes.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10716768" cy="2194560"/>
          </a:xfrm>
          <a:prstGeom prst="roundRect">
            <a:avLst>
              <a:gd name="adj" fmla="val 666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51460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engineer applies scientific principles, mathematical reasoning, and technical knowledge to design, build, test, and improve solutions to real-world problems.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051560" y="4892040"/>
            <a:ext cx="1828800" cy="365760"/>
          </a:xfrm>
          <a:prstGeom prst="roundRect">
            <a:avLst>
              <a:gd name="adj" fmla="val 32500"/>
            </a:avLst>
          </a:prstGeom>
          <a:solidFill>
            <a:srgbClr val="17233D"/>
          </a:solidFill>
          <a:ln w="10160">
            <a:solidFill>
              <a:srgbClr val="172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4965192"/>
            <a:ext cx="1645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CIVIL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4892040"/>
            <a:ext cx="1920240" cy="365760"/>
          </a:xfrm>
          <a:prstGeom prst="roundRect">
            <a:avLst>
              <a:gd name="adj" fmla="val 32500"/>
            </a:avLst>
          </a:prstGeom>
          <a:solidFill>
            <a:srgbClr val="17233D"/>
          </a:solidFill>
          <a:ln w="10160">
            <a:solidFill>
              <a:srgbClr val="1723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496519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76088" y="4892040"/>
            <a:ext cx="1920240" cy="365760"/>
          </a:xfrm>
          <a:prstGeom prst="roundRect">
            <a:avLst>
              <a:gd name="adj" fmla="val 32500"/>
            </a:avLst>
          </a:prstGeom>
          <a:solidFill>
            <a:srgbClr val="17233D"/>
          </a:solidFill>
          <a:ln w="10160">
            <a:solidFill>
              <a:srgbClr val="172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496519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52360" y="4892040"/>
            <a:ext cx="1920240" cy="365760"/>
          </a:xfrm>
          <a:prstGeom prst="roundRect">
            <a:avLst>
              <a:gd name="adj" fmla="val 32500"/>
            </a:avLst>
          </a:prstGeom>
          <a:solidFill>
            <a:srgbClr val="17233D"/>
          </a:solidFill>
          <a:ln w="10160">
            <a:solidFill>
              <a:srgbClr val="172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4965192"/>
            <a:ext cx="1737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3E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560527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is a tool. Engineering is the discipline.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COMPUTING HISTORY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did we get here?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apps, websites, and AI: centuries of inventions.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/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foundations of computing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theoretical machines to software engineering.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029968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2240280"/>
            <a:ext cx="960120" cy="960120"/>
          </a:xfrm>
          <a:prstGeom prst="ellipse">
            <a:avLst/>
          </a:prstGeom>
          <a:solidFill>
            <a:srgbClr val="223759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975104" y="219456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1843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5054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 LOVELACE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77824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published algorithm for a proposed computer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029968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1728" y="2240280"/>
            <a:ext cx="960120" cy="960120"/>
          </a:xfrm>
          <a:prstGeom prst="ellipse">
            <a:avLst/>
          </a:prstGeom>
          <a:solidFill>
            <a:srgbClr val="17233D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24688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797296" y="219456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1936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88152" y="25054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ALAN TURING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00016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foundations of computation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02752" y="2029968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240280"/>
            <a:ext cx="960120" cy="960120"/>
          </a:xfrm>
          <a:prstGeom prst="ellipse">
            <a:avLst/>
          </a:prstGeom>
          <a:solidFill>
            <a:srgbClr val="223759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4504" y="24688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E6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619488" y="219456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1940s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10344" y="25054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ENIAC SIX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2220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Pioneers of electronic computer programming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4023360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4233672"/>
            <a:ext cx="960120" cy="960120"/>
          </a:xfrm>
          <a:prstGeom prst="ellipse">
            <a:avLst/>
          </a:prstGeom>
          <a:solidFill>
            <a:srgbClr val="17233D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46227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GH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1975104" y="418795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1950s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65960" y="44988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GRACE HOPPER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77824" y="5266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pioneer; shaped high-level languages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80560" y="4023360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4233672"/>
            <a:ext cx="960120" cy="960120"/>
          </a:xfrm>
          <a:prstGeom prst="ellipse">
            <a:avLst/>
          </a:prstGeom>
          <a:solidFill>
            <a:srgbClr val="223759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446227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5797296" y="418795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88152" y="44988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MCCARTHY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700016" y="5266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AI; created Lisp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02752" y="4023360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4233672"/>
            <a:ext cx="960120" cy="960120"/>
          </a:xfrm>
          <a:prstGeom prst="ellipse">
            <a:avLst/>
          </a:prstGeom>
          <a:solidFill>
            <a:srgbClr val="17233D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04504" y="446227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MH</a:t>
            </a:r>
            <a:endParaRPr lang="en-US" sz="2300" dirty="0"/>
          </a:p>
        </p:txBody>
      </p:sp>
      <p:sp>
        <p:nvSpPr>
          <p:cNvPr id="41" name="Text 39"/>
          <p:cNvSpPr/>
          <p:nvPr/>
        </p:nvSpPr>
        <p:spPr>
          <a:xfrm>
            <a:off x="9619488" y="418795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1960s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10344" y="44988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MARGARET HAMILTON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522208" y="5266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Championed software engineering; led Apollo software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2376" y="61722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Illustrated initials indicate historic figures — authentic photo references and credits included in companion notes.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/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the digital world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innovations behind the software students use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2029968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2240280"/>
            <a:ext cx="960120" cy="960120"/>
          </a:xfrm>
          <a:prstGeom prst="ellipse">
            <a:avLst/>
          </a:prstGeom>
          <a:solidFill>
            <a:srgbClr val="223759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975104" y="219456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1969+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65960" y="25054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RITCHIE &amp; THOMPSON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77824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UNIX; C programming language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029968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1728" y="2240280"/>
            <a:ext cx="960120" cy="960120"/>
          </a:xfrm>
          <a:prstGeom prst="ellipse">
            <a:avLst/>
          </a:prstGeom>
          <a:solidFill>
            <a:srgbClr val="17233D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24688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797296" y="219456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1970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88152" y="25054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EDGAR F. CODD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00016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Relational database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02752" y="2029968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240280"/>
            <a:ext cx="960120" cy="960120"/>
          </a:xfrm>
          <a:prstGeom prst="ellipse">
            <a:avLst/>
          </a:prstGeom>
          <a:solidFill>
            <a:srgbClr val="223759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04504" y="2468880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9619488" y="2194560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1970s+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10344" y="2505456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BARBARA LISKOV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52220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abstraction and modular design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8368" y="4023360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4233672"/>
            <a:ext cx="960120" cy="960120"/>
          </a:xfrm>
          <a:prstGeom prst="ellipse">
            <a:avLst/>
          </a:prstGeom>
          <a:solidFill>
            <a:srgbClr val="17233D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46227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</a:t>
            </a:r>
            <a:endParaRPr lang="en-US" sz="2300" dirty="0"/>
          </a:p>
        </p:txBody>
      </p:sp>
      <p:sp>
        <p:nvSpPr>
          <p:cNvPr id="29" name="Text 27"/>
          <p:cNvSpPr/>
          <p:nvPr/>
        </p:nvSpPr>
        <p:spPr>
          <a:xfrm>
            <a:off x="1975104" y="418795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1980s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965960" y="44988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RADIA PERLMAN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77824" y="5266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Spanning Tree Protocol for networks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80560" y="4023360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81728" y="4233672"/>
            <a:ext cx="960120" cy="960120"/>
          </a:xfrm>
          <a:prstGeom prst="ellipse">
            <a:avLst/>
          </a:prstGeom>
          <a:solidFill>
            <a:srgbClr val="223759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446227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TB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5797296" y="418795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88152" y="44988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 BERNERS-LEE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700016" y="5266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Web; HTML and HTTP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02752" y="4023360"/>
            <a:ext cx="3611880" cy="1783080"/>
          </a:xfrm>
          <a:prstGeom prst="roundRect">
            <a:avLst>
              <a:gd name="adj" fmla="val 8205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4233672"/>
            <a:ext cx="960120" cy="960120"/>
          </a:xfrm>
          <a:prstGeom prst="ellipse">
            <a:avLst/>
          </a:prstGeom>
          <a:solidFill>
            <a:srgbClr val="17233D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04504" y="4462272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</a:t>
            </a:r>
            <a:endParaRPr lang="en-US" sz="2300" dirty="0"/>
          </a:p>
        </p:txBody>
      </p:sp>
      <p:sp>
        <p:nvSpPr>
          <p:cNvPr id="41" name="Text 39"/>
          <p:cNvSpPr/>
          <p:nvPr/>
        </p:nvSpPr>
        <p:spPr>
          <a:xfrm>
            <a:off x="9619488" y="4187952"/>
            <a:ext cx="2103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1991 / 2005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10344" y="449884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LINUS TORVALDS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8522208" y="526694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Linux kernel; Git version control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2376" y="61722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Illustrated initials indicate historic figures — authentic photo references and credits included in companion notes.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an idea become real software?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Hint: writing code is only one part of the process.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 / DEFINITION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Software Development Life Cycle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way to build software that actually solves the problem.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1371600"/>
          </a:xfrm>
          <a:prstGeom prst="roundRect">
            <a:avLst>
              <a:gd name="adj" fmla="val 1066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450592"/>
            <a:ext cx="10149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 →  DESIGN  →  DEVELOP  →  TEST  →  DEPLOY  →  MAINTAIN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" y="3950208"/>
            <a:ext cx="3310128" cy="1463040"/>
          </a:xfrm>
          <a:prstGeom prst="roundRect">
            <a:avLst>
              <a:gd name="adj" fmla="val 10000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4169664"/>
            <a:ext cx="50292" cy="493776"/>
          </a:xfrm>
          <a:prstGeom prst="rect">
            <a:avLst/>
          </a:prstGeom>
          <a:solidFill>
            <a:srgbClr val="73E2B0"/>
          </a:solidFill>
          <a:ln w="12700">
            <a:solidFill>
              <a:srgbClr val="73E2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151376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97280" y="4764024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what users need.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407408" y="3950208"/>
            <a:ext cx="3310128" cy="1463040"/>
          </a:xfrm>
          <a:prstGeom prst="roundRect">
            <a:avLst>
              <a:gd name="adj" fmla="val 10000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4169664"/>
            <a:ext cx="50292" cy="493776"/>
          </a:xfrm>
          <a:prstGeom prst="rect">
            <a:avLst/>
          </a:prstGeom>
          <a:solidFill>
            <a:srgbClr val="9F83FF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4151376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773168" y="4764024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problems early.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3950208"/>
            <a:ext cx="3310128" cy="1463040"/>
          </a:xfrm>
          <a:prstGeom prst="roundRect">
            <a:avLst>
              <a:gd name="adj" fmla="val 10000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57032" y="4169664"/>
            <a:ext cx="50292" cy="493776"/>
          </a:xfrm>
          <a:prstGeom prst="rect">
            <a:avLst/>
          </a:prstGeom>
          <a:solidFill>
            <a:srgbClr val="F7C86A"/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4151376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TEAMWORK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58200" y="4764024"/>
            <a:ext cx="2670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work and releases.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SDLC / SIX STAGES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stages. One continuous cycle.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projects revisit stages; Agile teams iterate frequently.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2103120"/>
            <a:ext cx="3511296" cy="1371600"/>
          </a:xfrm>
          <a:prstGeom prst="roundRect">
            <a:avLst>
              <a:gd name="adj" fmla="val 1066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322576"/>
            <a:ext cx="50292" cy="493776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304288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PLAN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15568" y="2916936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+ requirements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62856" y="2103120"/>
            <a:ext cx="3511296" cy="1371600"/>
          </a:xfrm>
          <a:prstGeom prst="roundRect">
            <a:avLst>
              <a:gd name="adj" fmla="val 1066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27448" y="2322576"/>
            <a:ext cx="50292" cy="493776"/>
          </a:xfrm>
          <a:prstGeom prst="rect">
            <a:avLst/>
          </a:prstGeom>
          <a:solidFill>
            <a:srgbClr val="9F83FF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2304288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DESIGN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928616" y="2916936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+ UX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375904" y="2103120"/>
            <a:ext cx="3511296" cy="1371600"/>
          </a:xfrm>
          <a:prstGeom prst="roundRect">
            <a:avLst>
              <a:gd name="adj" fmla="val 1066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0496" y="2322576"/>
            <a:ext cx="50292" cy="493776"/>
          </a:xfrm>
          <a:prstGeom prst="rect">
            <a:avLst/>
          </a:prstGeom>
          <a:solidFill>
            <a:srgbClr val="73E2B0"/>
          </a:solidFill>
          <a:ln w="12700">
            <a:solidFill>
              <a:srgbClr val="73E2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41664" y="2304288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DEVELOP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741664" y="2916936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features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9808" y="3767328"/>
            <a:ext cx="3511296" cy="1371600"/>
          </a:xfrm>
          <a:prstGeom prst="roundRect">
            <a:avLst>
              <a:gd name="adj" fmla="val 1066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986784"/>
            <a:ext cx="50292" cy="493776"/>
          </a:xfrm>
          <a:prstGeom prst="rect">
            <a:avLst/>
          </a:prstGeom>
          <a:solidFill>
            <a:srgbClr val="F7C86A"/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3968496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TEST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115568" y="458114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behavior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62856" y="3767328"/>
            <a:ext cx="3511296" cy="1371600"/>
          </a:xfrm>
          <a:prstGeom prst="roundRect">
            <a:avLst>
              <a:gd name="adj" fmla="val 1066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27448" y="3986784"/>
            <a:ext cx="50292" cy="493776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8616" y="3968496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DEPLOY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928616" y="458114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to users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75904" y="3767328"/>
            <a:ext cx="3511296" cy="1371600"/>
          </a:xfrm>
          <a:prstGeom prst="roundRect">
            <a:avLst>
              <a:gd name="adj" fmla="val 1066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0496" y="3986784"/>
            <a:ext cx="50292" cy="493776"/>
          </a:xfrm>
          <a:prstGeom prst="rect">
            <a:avLst/>
          </a:prstGeom>
          <a:solidFill>
            <a:srgbClr val="9F83FF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41664" y="3968496"/>
            <a:ext cx="2962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MAINTAIN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741664" y="458114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and fix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2960" y="60899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An online store needs product research, a usable design, secure checkout, tests, hosting, and updates.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FOUNDATIONS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actually happens when you open a website?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browser is only one part of the system.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 TO THE WEB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→ Request → Server → Response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Web runs on top of the internet.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2880360" cy="1965960"/>
          </a:xfrm>
          <a:prstGeom prst="roundRect">
            <a:avLst>
              <a:gd name="adj" fmla="val 7442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2642616"/>
            <a:ext cx="50292" cy="493776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243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BROWSER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51560" y="323697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type a URL or click a link.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2423160"/>
            <a:ext cx="2880360" cy="1965960"/>
          </a:xfrm>
          <a:prstGeom prst="roundRect">
            <a:avLst>
              <a:gd name="adj" fmla="val 7442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2642616"/>
            <a:ext cx="50292" cy="493776"/>
          </a:xfrm>
          <a:prstGeom prst="rect">
            <a:avLst/>
          </a:prstGeom>
          <a:solidFill>
            <a:srgbClr val="9F83FF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6243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SERVER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029200" y="323697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Receives and processes the HTTP request.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22792" y="2423160"/>
            <a:ext cx="2880360" cy="1965960"/>
          </a:xfrm>
          <a:prstGeom prst="roundRect">
            <a:avLst>
              <a:gd name="adj" fmla="val 7442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87384" y="2642616"/>
            <a:ext cx="50292" cy="493776"/>
          </a:xfrm>
          <a:prstGeom prst="rect">
            <a:avLst/>
          </a:prstGeom>
          <a:solidFill>
            <a:srgbClr val="73E2B0"/>
          </a:solidFill>
          <a:ln w="12700">
            <a:solidFill>
              <a:srgbClr val="73E2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88552" y="2624328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BROWSER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988552" y="3236976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Renders returned HTML, CSS and JS.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639312" y="3218688"/>
            <a:ext cx="868680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07808" y="3218688"/>
            <a:ext cx="877824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32104" y="5157216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= connected networks     •     Web = linked pages and resources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FOUNDATIONS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 some websites change for every user?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 portfolio with a social-media feed.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VS DYNAMIC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vs. dynamic websites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ways to produce and update content.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" y="2103120"/>
            <a:ext cx="5166360" cy="3310128"/>
          </a:xfrm>
          <a:prstGeom prst="roundRect">
            <a:avLst>
              <a:gd name="adj" fmla="val 4420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322576"/>
            <a:ext cx="50292" cy="493776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30428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70432" y="2916936"/>
            <a:ext cx="4526280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Typically serves prebuilt files.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 simple portfolio or documentation page.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+ optional JavaScript.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45352" y="2103120"/>
            <a:ext cx="5166360" cy="3310128"/>
          </a:xfrm>
          <a:prstGeom prst="roundRect">
            <a:avLst>
              <a:gd name="adj" fmla="val 4420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2322576"/>
            <a:ext cx="50292" cy="493776"/>
          </a:xfrm>
          <a:prstGeom prst="rect">
            <a:avLst/>
          </a:prstGeom>
          <a:solidFill>
            <a:srgbClr val="9F83FF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2304288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11112" y="2916936"/>
            <a:ext cx="4526280" cy="2350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can change based on users, data, and requests.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social feed, shopping cart, or banking app.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uses APIs, servers, and databases.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852160"/>
            <a:ext cx="10515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static site can still be interactive. Static ≠ no JavaScript.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/ SERVER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your code actually run?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device? Someone else’s computer? Both?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VS SERVER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 vs. server-side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environments with different responsibilities.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4672" y="2148840"/>
            <a:ext cx="5184648" cy="3063240"/>
          </a:xfrm>
          <a:prstGeom prst="roundRect">
            <a:avLst>
              <a:gd name="adj" fmla="val 4776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9264" y="2368296"/>
            <a:ext cx="50292" cy="493776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350008"/>
            <a:ext cx="4636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CLIENT-SIDE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70432" y="2962656"/>
            <a:ext cx="45445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in the browser.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Renders UI, responds to clicks, validates inputs, updates page content.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45352" y="2148840"/>
            <a:ext cx="5184648" cy="3063240"/>
          </a:xfrm>
          <a:prstGeom prst="roundRect">
            <a:avLst>
              <a:gd name="adj" fmla="val 4776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2368296"/>
            <a:ext cx="50292" cy="493776"/>
          </a:xfrm>
          <a:prstGeom prst="rect">
            <a:avLst/>
          </a:prstGeom>
          <a:solidFill>
            <a:srgbClr val="73E2B0"/>
          </a:solidFill>
          <a:ln w="12700">
            <a:solidFill>
              <a:srgbClr val="73E2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1112" y="2350008"/>
            <a:ext cx="4636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SERVER-SIDE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11112" y="2962656"/>
            <a:ext cx="454456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on a server.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authentication, permissions, business logic, and data access.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57150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example: the browser submits details → the server verifies them → the browser shows the result.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WEB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behind an app like Instagram?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screen is only the visible layer.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FULL-STACK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Frontend. Backend. Database.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distinct responsibilities working together.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" y="2057400"/>
            <a:ext cx="3364992" cy="3081528"/>
          </a:xfrm>
          <a:prstGeom prst="roundRect">
            <a:avLst>
              <a:gd name="adj" fmla="val 4748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" y="2276856"/>
            <a:ext cx="50292" cy="493776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2258568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24712" y="2871216"/>
            <a:ext cx="27249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users see and touch.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· CSS · JavaScript · React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the post and like button.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34840" y="2057400"/>
            <a:ext cx="3364992" cy="3081528"/>
          </a:xfrm>
          <a:prstGeom prst="roundRect">
            <a:avLst>
              <a:gd name="adj" fmla="val 4748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2276856"/>
            <a:ext cx="50292" cy="493776"/>
          </a:xfrm>
          <a:prstGeom prst="rect">
            <a:avLst/>
          </a:prstGeom>
          <a:solidFill>
            <a:srgbClr val="9F83FF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258568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00600" y="2871216"/>
            <a:ext cx="27249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services, and APIs.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· Express · Python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processing the like.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10728" y="2057400"/>
            <a:ext cx="3364992" cy="3081528"/>
          </a:xfrm>
          <a:prstGeom prst="roundRect">
            <a:avLst>
              <a:gd name="adj" fmla="val 4748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276856"/>
            <a:ext cx="50292" cy="493776"/>
          </a:xfrm>
          <a:prstGeom prst="rect">
            <a:avLst/>
          </a:prstGeom>
          <a:solidFill>
            <a:srgbClr val="73E2B0"/>
          </a:solidFill>
          <a:ln w="12700">
            <a:solidFill>
              <a:srgbClr val="73E2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6488" y="2258568"/>
            <a:ext cx="2816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76488" y="2871216"/>
            <a:ext cx="272491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application data.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· MySQL · SQLite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storing post likes.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151376" y="3685032"/>
            <a:ext cx="210312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18120" y="3685032"/>
            <a:ext cx="228600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TOOLKIT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engineers build everything from scratch?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engineers know how to use the right tools.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DEVELOPER TOOLKIT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used in the industry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help engineers plan, build, collaborate, and ship.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39112"/>
            <a:ext cx="3529584" cy="1527048"/>
          </a:xfrm>
          <a:prstGeom prst="roundRect">
            <a:avLst>
              <a:gd name="adj" fmla="val 9581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30428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&lt;/&gt;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73352" y="2267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82496" y="27980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 · IntelliJ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53712" y="2039112"/>
            <a:ext cx="3529584" cy="1527048"/>
          </a:xfrm>
          <a:prstGeom prst="roundRect">
            <a:avLst>
              <a:gd name="adj" fmla="val 9581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230428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95544" y="2267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04688" y="27980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· GitHub · GitLab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75904" y="2039112"/>
            <a:ext cx="3529584" cy="1527048"/>
          </a:xfrm>
          <a:prstGeom prst="roundRect">
            <a:avLst>
              <a:gd name="adj" fmla="val 9581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13648" y="2304288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 }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317736" y="2267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0" y="279806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· Next.js · Express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803904"/>
            <a:ext cx="3529584" cy="1527048"/>
          </a:xfrm>
          <a:prstGeom prst="roundRect">
            <a:avLst>
              <a:gd name="adj" fmla="val 9581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6908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✦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73352" y="40325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82496" y="456285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Claude · ChatGPT · Copilot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53712" y="3803904"/>
            <a:ext cx="3529584" cy="1527048"/>
          </a:xfrm>
          <a:prstGeom prst="roundRect">
            <a:avLst>
              <a:gd name="adj" fmla="val 9581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406908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▤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95544" y="40325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&amp; TRACKING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04688" y="456285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 · Jira · Trello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75904" y="3803904"/>
            <a:ext cx="3529584" cy="1527048"/>
          </a:xfrm>
          <a:prstGeom prst="roundRect">
            <a:avLst>
              <a:gd name="adj" fmla="val 9581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13648" y="406908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↑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9317736" y="403250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26880" y="456285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 · Netlify · AWS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5980176"/>
            <a:ext cx="10652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C8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tools accelerate work. Engineers still verify, test, and own the result.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WORKFLOW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idea to production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SDLC stages connect to the tools we use.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" y="2514600"/>
            <a:ext cx="1709928" cy="2194560"/>
          </a:xfrm>
          <a:prstGeom prst="roundRect">
            <a:avLst>
              <a:gd name="adj" fmla="val 8556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28163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22376" y="3364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22376" y="39227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350008" y="3639312"/>
            <a:ext cx="192024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9464" y="2514600"/>
            <a:ext cx="1709928" cy="2194560"/>
          </a:xfrm>
          <a:prstGeom prst="roundRect">
            <a:avLst>
              <a:gd name="adj" fmla="val 8556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60904" y="28163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2660904" y="3364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660904" y="39227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Figma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88536" y="3639312"/>
            <a:ext cx="192024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07992" y="2514600"/>
            <a:ext cx="1709928" cy="2194560"/>
          </a:xfrm>
          <a:prstGeom prst="roundRect">
            <a:avLst>
              <a:gd name="adj" fmla="val 8556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28163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4599432" y="3364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99432" y="39227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Code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3639312"/>
            <a:ext cx="192024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46520" y="2514600"/>
            <a:ext cx="1709928" cy="2194560"/>
          </a:xfrm>
          <a:prstGeom prst="roundRect">
            <a:avLst>
              <a:gd name="adj" fmla="val 8556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8163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6537960" y="3364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37960" y="39227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165592" y="3639312"/>
            <a:ext cx="192024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85048" y="2514600"/>
            <a:ext cx="1709928" cy="2194560"/>
          </a:xfrm>
          <a:prstGeom prst="roundRect">
            <a:avLst>
              <a:gd name="adj" fmla="val 8556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76488" y="28163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8476488" y="3364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476488" y="39227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DevTools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104120" y="3639312"/>
            <a:ext cx="192024" cy="0"/>
          </a:xfrm>
          <a:prstGeom prst="line">
            <a:avLst/>
          </a:prstGeom>
          <a:noFill/>
          <a:ln w="25400">
            <a:solidFill>
              <a:srgbClr val="3DD7EE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323576" y="2514600"/>
            <a:ext cx="1709928" cy="2194560"/>
          </a:xfrm>
          <a:prstGeom prst="roundRect">
            <a:avLst>
              <a:gd name="adj" fmla="val 8556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15016" y="281635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10415016" y="3364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10415016" y="3922776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Vercel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3816" y="5532120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3E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is not the end: feedback and maintenance bring us back to planning.</a:t>
            </a:r>
            <a:endParaRPr lang="en-US" sz="1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a browser know what to display?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webpage starts with a structure.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/ 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= HyperText Markup Language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defines the structure and meaning of webpage content.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2103120"/>
            <a:ext cx="5715000" cy="2971800"/>
          </a:xfrm>
          <a:prstGeom prst="roundRect">
            <a:avLst>
              <a:gd name="adj" fmla="val 3077"/>
            </a:avLst>
          </a:prstGeom>
          <a:solidFill>
            <a:srgbClr val="09172B"/>
          </a:solidFill>
          <a:ln w="10160">
            <a:solidFill>
              <a:srgbClr val="324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2219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 index.html / style.css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633472"/>
            <a:ext cx="516636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&lt;h1&gt;Hello, World!&lt;/h1&gt;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&lt;p&gt;My first website.&lt;/p&gt;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&lt;button&gt;Click Me&lt;/button&gt;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793992" y="2103120"/>
            <a:ext cx="4572000" cy="2971800"/>
          </a:xfrm>
          <a:prstGeom prst="roundRect">
            <a:avLst>
              <a:gd name="adj" fmla="val 4923"/>
            </a:avLst>
          </a:prstGeom>
          <a:solidFill>
            <a:srgbClr val="F8FAFF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87184" y="2532888"/>
            <a:ext cx="3794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Hello, World!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205472" y="33101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D4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first website.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205472" y="3849624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DDE2EF"/>
          </a:solidFill>
          <a:ln w="10160">
            <a:solidFill>
              <a:srgbClr val="DDE2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88352" y="399592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2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95528" y="5550408"/>
            <a:ext cx="10607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Tags describe headings, text, images, links, and more.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we make a plain webpage beautiful?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gives the structure. What handles its appearance?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/ INTRODUCTION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= Cascading Style Sheets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controls colors, fonts, spacing, layouts, and visual style.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2011680"/>
            <a:ext cx="5687568" cy="3611880"/>
          </a:xfrm>
          <a:prstGeom prst="roundRect">
            <a:avLst>
              <a:gd name="adj" fmla="val 2532"/>
            </a:avLst>
          </a:prstGeom>
          <a:solidFill>
            <a:srgbClr val="09172B"/>
          </a:solidFill>
          <a:ln w="10160">
            <a:solidFill>
              <a:srgbClr val="324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2130552"/>
            <a:ext cx="5276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 index.html / style.css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542032"/>
            <a:ext cx="513892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rebeccapurple;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font-size: 32px;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rebeccapurple;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white;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12280" y="2011680"/>
            <a:ext cx="4507992" cy="3611880"/>
          </a:xfrm>
          <a:prstGeom prst="roundRect">
            <a:avLst>
              <a:gd name="adj" fmla="val 4051"/>
            </a:avLst>
          </a:prstGeom>
          <a:solidFill>
            <a:srgbClr val="F8FAFF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9752" y="2560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6941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Hello, World!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7178040" y="3401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051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first website.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159752" y="4050792"/>
            <a:ext cx="1938528" cy="612648"/>
          </a:xfrm>
          <a:prstGeom prst="roundRect">
            <a:avLst>
              <a:gd name="adj" fmla="val 19403"/>
            </a:avLst>
          </a:prstGeom>
          <a:solidFill>
            <a:srgbClr val="6941C6"/>
          </a:solidFill>
          <a:ln w="10160">
            <a:solidFill>
              <a:srgbClr val="6941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4242816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Me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TRIO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CSS + JavaScript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technologies. Three different jobs.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2376" y="2148840"/>
            <a:ext cx="3429000" cy="2999232"/>
          </a:xfrm>
          <a:prstGeom prst="roundRect">
            <a:avLst>
              <a:gd name="adj" fmla="val 4878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368296"/>
            <a:ext cx="50292" cy="493776"/>
          </a:xfrm>
          <a:prstGeom prst="rect">
            <a:avLst/>
          </a:prstGeom>
          <a:solidFill>
            <a:srgbClr val="F7C86A"/>
          </a:solidFill>
          <a:ln w="12700">
            <a:solidFill>
              <a:srgbClr val="F7C8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8136" y="23500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88136" y="2962656"/>
            <a:ext cx="27889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Headings, paragraphs, images, forms, semantic elements.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429000" cy="2999232"/>
          </a:xfrm>
          <a:prstGeom prst="roundRect">
            <a:avLst>
              <a:gd name="adj" fmla="val 4878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53712" y="2368296"/>
            <a:ext cx="50292" cy="493776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3500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54880" y="2962656"/>
            <a:ext cx="27889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APPEARANCE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Color, typography, layout, spacing, responsiveness.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55864" y="2148840"/>
            <a:ext cx="3429000" cy="2999232"/>
          </a:xfrm>
          <a:prstGeom prst="roundRect">
            <a:avLst>
              <a:gd name="adj" fmla="val 4878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0456" y="2368296"/>
            <a:ext cx="50292" cy="493776"/>
          </a:xfrm>
          <a:prstGeom prst="rect">
            <a:avLst/>
          </a:prstGeom>
          <a:solidFill>
            <a:srgbClr val="9F83FF"/>
          </a:solidFill>
          <a:ln w="12700">
            <a:solidFill>
              <a:srgbClr val="9F83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23500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21624" y="2962656"/>
            <a:ext cx="278892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Events, interactivity, and dynamic interface updates.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797296"/>
            <a:ext cx="10378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3E2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Skeleton  •  Appearance  •  Behavior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WORKSHOP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talking. Ready to build?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first developer profile starts now.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/ GOAL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your developer profile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mini personal website made with HTML and CSS.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096" y="2103120"/>
            <a:ext cx="4919472" cy="3346704"/>
          </a:xfrm>
          <a:prstGeom prst="roundRect">
            <a:avLst>
              <a:gd name="adj" fmla="val 4372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322576"/>
            <a:ext cx="50292" cy="493776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304288"/>
            <a:ext cx="43708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PAGE INCLUDES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33856" y="2916936"/>
            <a:ext cx="4279392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+ introduction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image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 or interests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link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own colors and style.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53328" y="2103120"/>
            <a:ext cx="5349240" cy="3346704"/>
          </a:xfrm>
          <a:prstGeom prst="roundRect">
            <a:avLst>
              <a:gd name="adj" fmla="val 4372"/>
            </a:avLst>
          </a:prstGeom>
          <a:solidFill>
            <a:srgbClr val="F2F2FC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74152" y="2404872"/>
            <a:ext cx="1207008" cy="1207008"/>
          </a:xfrm>
          <a:prstGeom prst="ellipse">
            <a:avLst/>
          </a:prstGeom>
          <a:solidFill>
            <a:srgbClr val="C9C4F3"/>
          </a:solidFill>
          <a:ln w="12700">
            <a:solidFill>
              <a:srgbClr val="C9C4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3408" y="3822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2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HELLO, I’M A DEVELOPER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086600" y="4398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6863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 •  CSS  •  IDEAS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/ SETUP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 — Set up your project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VS Code, create a folder, and add these files.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5669280" cy="3255264"/>
          </a:xfrm>
          <a:prstGeom prst="roundRect">
            <a:avLst>
              <a:gd name="adj" fmla="val 2809"/>
            </a:avLst>
          </a:prstGeom>
          <a:solidFill>
            <a:srgbClr val="09172B"/>
          </a:solidFill>
          <a:ln w="10160">
            <a:solidFill>
              <a:srgbClr val="324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76272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 index.html / style.css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587752"/>
            <a:ext cx="512064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my-profile/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index.html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style.css</a:t>
            </a:r>
            <a:endParaRPr lang="en-US" sz="2500" dirty="0"/>
          </a:p>
          <a:p>
            <a:pPr indent="0" marL="0">
              <a:buNone/>
            </a:pPr>
            <a:r>
              <a:rPr lang="en-US" sz="25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profile.jpg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6675120" y="2057400"/>
            <a:ext cx="4727448" cy="3255264"/>
          </a:xfrm>
          <a:prstGeom prst="roundRect">
            <a:avLst>
              <a:gd name="adj" fmla="val 4494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9712" y="2276856"/>
            <a:ext cx="50292" cy="493776"/>
          </a:xfrm>
          <a:prstGeom prst="rect">
            <a:avLst/>
          </a:prstGeom>
          <a:solidFill>
            <a:srgbClr val="73E2B0"/>
          </a:solidFill>
          <a:ln w="12700">
            <a:solidFill>
              <a:srgbClr val="73E2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258568"/>
            <a:ext cx="4178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IT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7040880" y="2871216"/>
            <a:ext cx="4087368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Open your folder in VS Code.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Create the HTML and CSS files.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Add a profile image.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index.html in a browser.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/ HTML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— Write your HTML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content first. Style it second.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512" y="1883664"/>
            <a:ext cx="10863072" cy="4206240"/>
          </a:xfrm>
          <a:prstGeom prst="roundRect">
            <a:avLst>
              <a:gd name="adj" fmla="val 2174"/>
            </a:avLst>
          </a:prstGeom>
          <a:solidFill>
            <a:srgbClr val="09172B"/>
          </a:solidFill>
          <a:ln w="10160">
            <a:solidFill>
              <a:srgbClr val="324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02536"/>
            <a:ext cx="10451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 index.html / style.css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414016"/>
            <a:ext cx="1031443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lang="en"&gt;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 content="width=device-width, initial-scale=1"&gt;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&lt;title&gt;My Profile&lt;/title&gt;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href="style.css"&gt;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 class="profile"&gt;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/ HTML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— Add your profile content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Continue inside &lt;main class="profile"&gt;.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7512" y="1865376"/>
            <a:ext cx="10835640" cy="4233672"/>
          </a:xfrm>
          <a:prstGeom prst="roundRect">
            <a:avLst>
              <a:gd name="adj" fmla="val 2160"/>
            </a:avLst>
          </a:prstGeom>
          <a:solidFill>
            <a:srgbClr val="09172B"/>
          </a:solidFill>
          <a:ln w="10160">
            <a:solidFill>
              <a:srgbClr val="324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98424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 index.html / style.css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2395728"/>
            <a:ext cx="10287000" cy="3575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&lt;img src="profile.jpg" alt="My profile photo"&gt;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&lt;h1&gt;Hello, I’m Lina!&lt;/h1&gt;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&lt;p&gt;A future software engineer.&lt;/p&gt;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&lt;h2&gt;My Skills&lt;/h2&gt;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&lt;p&gt;HTML • CSS • Problem Solving&lt;/p&gt;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href="https://github.com"&gt;My GitHub&lt;/a&gt;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/ CSS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— Style the page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style.css and refresh your browser.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10835640" cy="4462272"/>
          </a:xfrm>
          <a:prstGeom prst="roundRect">
            <a:avLst>
              <a:gd name="adj" fmla="val 2049"/>
            </a:avLst>
          </a:prstGeom>
          <a:solidFill>
            <a:srgbClr val="09172B"/>
          </a:solidFill>
          <a:ln w="10160">
            <a:solidFill>
              <a:srgbClr val="324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0195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 index.html / style.css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13432"/>
            <a:ext cx="10287000" cy="3803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font-family: Arial, sans-serif;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#f3f0ff;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40px 16px;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.profile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background: white;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max-width: 420px;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auto;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32px;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20px;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/ CSS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 — Style your image and heading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first version yours.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1837944"/>
            <a:ext cx="10789920" cy="4425696"/>
          </a:xfrm>
          <a:prstGeom prst="roundRect">
            <a:avLst>
              <a:gd name="adj" fmla="val 2066"/>
            </a:avLst>
          </a:prstGeom>
          <a:solidFill>
            <a:srgbClr val="09172B"/>
          </a:solidFill>
          <a:ln w="10160">
            <a:solidFill>
              <a:srgbClr val="324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56816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    index.html / style.css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68296"/>
            <a:ext cx="102412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120px;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height: 120px;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border-radius: 50%;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object-fit: cover;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#6941c6;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#6941c6;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bold;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2F6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/ CHALLENGE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challenge: 15 minutes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something personal. Experiment. Break things. Fix them.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920240"/>
            <a:ext cx="10332720" cy="576072"/>
          </a:xfrm>
          <a:prstGeom prst="roundRect">
            <a:avLst>
              <a:gd name="adj" fmla="val 2539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011680"/>
            <a:ext cx="640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965960" y="203911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THE COLORS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2679192"/>
            <a:ext cx="10332720" cy="576072"/>
          </a:xfrm>
          <a:prstGeom prst="roundRect">
            <a:avLst>
              <a:gd name="adj" fmla="val 2539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770632"/>
            <a:ext cx="640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65960" y="279806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A FONT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3438144"/>
            <a:ext cx="10332720" cy="576072"/>
          </a:xfrm>
          <a:prstGeom prst="roundRect">
            <a:avLst>
              <a:gd name="adj" fmla="val 2539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529584"/>
            <a:ext cx="640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965960" y="355701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THREE SKILLS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" y="4197096"/>
            <a:ext cx="10332720" cy="576072"/>
          </a:xfrm>
          <a:prstGeom prst="roundRect">
            <a:avLst>
              <a:gd name="adj" fmla="val 2539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288536"/>
            <a:ext cx="640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965960" y="431596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SECOND LINK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914400" y="4956048"/>
            <a:ext cx="10332720" cy="576072"/>
          </a:xfrm>
          <a:prstGeom prst="roundRect">
            <a:avLst>
              <a:gd name="adj" fmla="val 25397"/>
            </a:avLst>
          </a:prstGeom>
          <a:solidFill>
            <a:srgbClr val="111B31"/>
          </a:solidFill>
          <a:ln w="10160">
            <a:solidFill>
              <a:srgbClr val="2A39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047488"/>
            <a:ext cx="6400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965960" y="50749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 A HOVER EFFECT</a:t>
            </a:r>
            <a:endParaRPr lang="en-US" sz="1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WHAT’S NEXT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0" y="1143000"/>
            <a:ext cx="3108960" cy="3108960"/>
          </a:xfrm>
          <a:prstGeom prst="ellipse">
            <a:avLst/>
          </a:prstGeom>
          <a:solidFill>
            <a:srgbClr val="9F83FF">
              <a:alpha val="7000"/>
            </a:srgbClr>
          </a:solidFill>
          <a:ln w="25400">
            <a:solidFill>
              <a:srgbClr val="9F83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46920" y="1463040"/>
            <a:ext cx="1143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9F8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comes after a simple webpage?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822960" y="4251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Accounts. Saved data. APIs. Real users. Real problems.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FIRST  /  DISCUSS  /  REVEAL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 was the foundation.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667512" y="1408176"/>
            <a:ext cx="10789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Next, you’ll connect the pieces into real software.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231136"/>
            <a:ext cx="100584" cy="100584"/>
          </a:xfrm>
          <a:prstGeom prst="ellipse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2103120"/>
            <a:ext cx="98023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is more than writing code.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05840" y="2926080"/>
            <a:ext cx="100584" cy="100584"/>
          </a:xfrm>
          <a:prstGeom prst="ellipse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2798064"/>
            <a:ext cx="98023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Pioneers created the foundations of modern computing.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05840" y="3621024"/>
            <a:ext cx="100584" cy="100584"/>
          </a:xfrm>
          <a:prstGeom prst="ellipse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3493008"/>
            <a:ext cx="98023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SDLC organizes how teams deliver products.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05840" y="4315968"/>
            <a:ext cx="100584" cy="100584"/>
          </a:xfrm>
          <a:prstGeom prst="ellipse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4187952"/>
            <a:ext cx="98023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Frontend, backend, and databases have different jobs.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05840" y="5010912"/>
            <a:ext cx="100584" cy="100584"/>
          </a:xfrm>
          <a:prstGeom prst="ellipse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4882896"/>
            <a:ext cx="98023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and CSS are your first building blocks.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87552" y="58704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  →  Finish your profile and propose one new feature.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10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3DD7EE"/>
          </a:solidFill>
          <a:ln w="12700">
            <a:solidFill>
              <a:srgbClr val="3DD7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/ PSUT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412480" y="201168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/ CODEFLOW PSUT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356848" y="652881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8B8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50976" y="1051560"/>
            <a:ext cx="9601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BUILD.</a:t>
            </a:r>
            <a:endParaRPr lang="en-US" sz="6100" dirty="0"/>
          </a:p>
          <a:p>
            <a:pPr indent="0" marL="0">
              <a:buNone/>
            </a:pPr>
            <a:r>
              <a:rPr lang="en-US" sz="6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BREAK.</a:t>
            </a:r>
            <a:endParaRPr lang="en-US" sz="6100" dirty="0"/>
          </a:p>
          <a:p>
            <a:pPr indent="0" marL="0">
              <a:buNone/>
            </a:pPr>
            <a:r>
              <a:rPr lang="en-US" sz="6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LEARN.</a:t>
            </a:r>
            <a:endParaRPr lang="en-US" sz="6100" dirty="0"/>
          </a:p>
          <a:p>
            <a:pPr indent="0" marL="0">
              <a:buNone/>
            </a:pPr>
            <a:r>
              <a:rPr lang="en-US" sz="6100" b="1" dirty="0">
                <a:solidFill>
                  <a:srgbClr val="F5F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REPEAT.</a:t>
            </a:r>
            <a:endParaRPr lang="en-US" sz="6100" dirty="0"/>
          </a:p>
        </p:txBody>
      </p:sp>
      <p:sp>
        <p:nvSpPr>
          <p:cNvPr id="7" name="Text 5"/>
          <p:cNvSpPr/>
          <p:nvPr/>
        </p:nvSpPr>
        <p:spPr>
          <a:xfrm>
            <a:off x="1005840" y="58521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3DD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CODEFLOW PSUT  •  SESSION 01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Practices Using the SDLC</dc:title>
  <dc:subject>SDLC Session 01</dc:subject>
  <dc:creator>Codeflow PSUT</dc:creator>
  <cp:lastModifiedBy>Codeflow PSUT</cp:lastModifiedBy>
  <cp:revision>1</cp:revision>
  <dcterms:created xsi:type="dcterms:W3CDTF">2026-10-26T10:29:06Z</dcterms:created>
  <dcterms:modified xsi:type="dcterms:W3CDTF">2026-10-26T10:29:06Z</dcterms:modified>
</cp:coreProperties>
</file>